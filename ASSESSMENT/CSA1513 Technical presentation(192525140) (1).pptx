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5" r:id="rId3"/>
    <p:sldId id="258" r:id="rId4"/>
    <p:sldId id="259" r:id="rId5"/>
    <p:sldId id="261" r:id="rId6"/>
    <p:sldId id="266" r:id="rId7"/>
    <p:sldId id="25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19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5">
            <a:extLst>
              <a:ext uri="{FF2B5EF4-FFF2-40B4-BE49-F238E27FC236}">
                <a16:creationId xmlns:a16="http://schemas.microsoft.com/office/drawing/2014/main" id="{B4E8EDED-538F-01DA-D187-9B8192BD3A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79" y="167257"/>
            <a:ext cx="8853330" cy="831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745E68-E800-0B12-13CF-C5E4784E9E87}"/>
              </a:ext>
            </a:extLst>
          </p:cNvPr>
          <p:cNvSpPr txBox="1"/>
          <p:nvPr/>
        </p:nvSpPr>
        <p:spPr>
          <a:xfrm>
            <a:off x="2286000" y="1939672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Cloud-Driven Big Da Analytics</a:t>
            </a:r>
            <a:endParaRPr lang="en-US" sz="3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FBA6F-4826-5DC6-A795-90907380E620}"/>
              </a:ext>
            </a:extLst>
          </p:cNvPr>
          <p:cNvSpPr txBox="1"/>
          <p:nvPr/>
        </p:nvSpPr>
        <p:spPr>
          <a:xfrm>
            <a:off x="865955" y="1343355"/>
            <a:ext cx="7218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Driven Big Data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Analystics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Architectures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73BBC-63B8-94D3-91F9-620FB8618DD5}"/>
              </a:ext>
            </a:extLst>
          </p:cNvPr>
          <p:cNvSpPr txBox="1"/>
          <p:nvPr/>
        </p:nvSpPr>
        <p:spPr>
          <a:xfrm>
            <a:off x="6149491" y="3563193"/>
            <a:ext cx="2423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algn="just"/>
            <a:r>
              <a:rPr lang="en-IN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K.Sasidhar</a:t>
            </a:r>
            <a:r>
              <a:rPr lang="en-I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Reddy(192525140)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4E7BE-167C-BC09-7838-66B1B4AA89F6}"/>
              </a:ext>
            </a:extLst>
          </p:cNvPr>
          <p:cNvSpPr txBox="1"/>
          <p:nvPr/>
        </p:nvSpPr>
        <p:spPr>
          <a:xfrm>
            <a:off x="257364" y="3530796"/>
            <a:ext cx="21406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:</a:t>
            </a:r>
          </a:p>
          <a:p>
            <a:pPr algn="just"/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LATHA R</a:t>
            </a:r>
            <a:endParaRPr lang="en-I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BF52C-2F4B-F2C3-FACC-514A6FC1473B}"/>
              </a:ext>
            </a:extLst>
          </p:cNvPr>
          <p:cNvSpPr txBox="1"/>
          <p:nvPr/>
        </p:nvSpPr>
        <p:spPr>
          <a:xfrm>
            <a:off x="1798522" y="2593697"/>
            <a:ext cx="647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CSA1513  CLOUD COMPUTING FOR BIG DATA ANALYSTICS </a:t>
            </a:r>
          </a:p>
        </p:txBody>
      </p:sp>
    </p:spTree>
    <p:extLst>
      <p:ext uri="{BB962C8B-B14F-4D97-AF65-F5344CB8AC3E}">
        <p14:creationId xmlns:p14="http://schemas.microsoft.com/office/powerpoint/2010/main" val="2870095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                                       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515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Explosion: </a:t>
            </a:r>
            <a:r>
              <a:rPr lang="en-US" sz="1600" dirty="0">
                <a:solidFill>
                  <a:schemeClr val="tx1"/>
                </a:solidFill>
              </a:rPr>
              <a:t>Social media, IoT, apps and transactions generate massive data every second.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83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Limits of Traditional Systems: </a:t>
            </a:r>
            <a:r>
              <a:rPr lang="en-US" sz="1600" dirty="0">
                <a:solidFill>
                  <a:schemeClr val="tx1"/>
                </a:solidFill>
              </a:rPr>
              <a:t>On-premise tools struggle to store and process data at this scale.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14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Cloud Computing: </a:t>
            </a:r>
            <a:r>
              <a:rPr lang="en-US" sz="1600" dirty="0">
                <a:solidFill>
                  <a:schemeClr val="tx1"/>
                </a:solidFill>
              </a:rPr>
              <a:t>Elastic, on-demand resources make big data handling scalable and affordable.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461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Big Data Analytics: </a:t>
            </a:r>
            <a:r>
              <a:rPr lang="en-US" sz="1600" dirty="0">
                <a:solidFill>
                  <a:schemeClr val="tx1"/>
                </a:solidFill>
              </a:rPr>
              <a:t>Analysing volume, velocity and variety reveals patterns and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                                         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5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Design a scalable, cloud-based architecture for big data storage and processing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764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Enable fast batch and real-time analytics on large, diverse datasets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78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Apply machine learning to extract intelligent, actionable insights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912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Reduce cost with pay-as-you-go, auto-scaling cloud resources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04488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044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Demonstrate real-world applications across industries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                                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5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Layer 1"/>
          <p:cNvSpPr/>
          <p:nvPr/>
        </p:nvSpPr>
        <p:spPr>
          <a:xfrm>
            <a:off x="457200" y="1280160"/>
            <a:ext cx="1417320" cy="173736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371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IoT, apps, logs, social, databases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01952" y="2148840"/>
            <a:ext cx="21945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Layer 2"/>
          <p:cNvSpPr/>
          <p:nvPr/>
        </p:nvSpPr>
        <p:spPr>
          <a:xfrm>
            <a:off x="2148840" y="1280160"/>
            <a:ext cx="1417320" cy="1737360"/>
          </a:xfrm>
          <a:prstGeom prst="roundRect">
            <a:avLst>
              <a:gd name="adj" fmla="val 645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21992" y="1371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Ingestion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9659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Kafka / Kinesis streaming &amp; batch ETL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93592" y="2148840"/>
            <a:ext cx="21945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Layer 3"/>
          <p:cNvSpPr/>
          <p:nvPr/>
        </p:nvSpPr>
        <p:spPr>
          <a:xfrm>
            <a:off x="3840480" y="1280160"/>
            <a:ext cx="1417320" cy="1737360"/>
          </a:xfrm>
          <a:prstGeom prst="roundRect">
            <a:avLst>
              <a:gd name="adj" fmla="val 64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1371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Cloud Storage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659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Data lake (S3 / Blob), NoSQL, warehouse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85232" y="2148840"/>
            <a:ext cx="21945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Layer 4"/>
          <p:cNvSpPr/>
          <p:nvPr/>
        </p:nvSpPr>
        <p:spPr>
          <a:xfrm>
            <a:off x="5532120" y="1280160"/>
            <a:ext cx="1417320" cy="1737360"/>
          </a:xfrm>
          <a:prstGeom prst="roundRect">
            <a:avLst>
              <a:gd name="adj" fmla="val 645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05272" y="1371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19659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Spark, Hadoop, serverless compute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76872" y="2148840"/>
            <a:ext cx="21945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Layer 5"/>
          <p:cNvSpPr/>
          <p:nvPr/>
        </p:nvSpPr>
        <p:spPr>
          <a:xfrm>
            <a:off x="7223760" y="1280160"/>
            <a:ext cx="1417320" cy="1737360"/>
          </a:xfrm>
          <a:prstGeom prst="roundRect">
            <a:avLst>
              <a:gd name="adj" fmla="val 645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96912" y="13716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Analytics &amp; ML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9659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Models, BI, dashboards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 Cloud Infrastructure: Elastic Compute  |  Auto-Scaling  |  Distributed Storage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Security, Governance &amp; Monitoring (IAM, encryption, audit, orchestration)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       Comparison: Traditional vs Cloud-Driven Analytics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5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4015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Traditional (On-Premise)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Cloud-Driven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Scalability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Fixed hardware, slow to expand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Elastic, scales on demand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Cost Model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 upfront investment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Pay-as-you-go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Processing Speed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Limited by local capacity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Distributed, parallel processing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Maintenance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Managed in-house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Handled by cloud provider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Availability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Single-site risk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 availability, multi-region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                           Real-World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515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Huge Data Volumes: </a:t>
            </a:r>
            <a:r>
              <a:rPr lang="en-US" sz="1600" dirty="0">
                <a:solidFill>
                  <a:schemeClr val="tx1"/>
                </a:solidFill>
              </a:rPr>
              <a:t>Organizations produce terabytes daily that local servers cannot store or process.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83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Slow Decision Making: </a:t>
            </a:r>
            <a:r>
              <a:rPr lang="en-US" sz="1600" dirty="0">
                <a:solidFill>
                  <a:schemeClr val="tx1"/>
                </a:solidFill>
              </a:rPr>
              <a:t>Batch-only systems delay insights when real-time action is needed.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14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High Infrastructure Cost: </a:t>
            </a:r>
            <a:r>
              <a:rPr lang="en-US" sz="1600" dirty="0">
                <a:solidFill>
                  <a:schemeClr val="tx1"/>
                </a:solidFill>
              </a:rPr>
              <a:t>Buying and maintaining on-premise hardware is expensive and underused.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461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Scalability Limits: </a:t>
            </a:r>
            <a:r>
              <a:rPr lang="en-US" sz="1600" dirty="0">
                <a:solidFill>
                  <a:schemeClr val="tx1"/>
                </a:solidFill>
              </a:rPr>
              <a:t>Fixed capacity cannot handle sudden spikes in data or users.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Security and Privacy: </a:t>
            </a:r>
            <a:r>
              <a:rPr lang="en-US" sz="1600" dirty="0">
                <a:solidFill>
                  <a:schemeClr val="tx1"/>
                </a:solidFill>
              </a:rPr>
              <a:t>Sensitive data in healthcare and finance needs strong protection and compliance.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                                        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515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Scalable Architectures: </a:t>
            </a:r>
            <a:r>
              <a:rPr lang="en-US" sz="1600" dirty="0">
                <a:solidFill>
                  <a:schemeClr val="tx1"/>
                </a:solidFill>
              </a:rPr>
              <a:t>Layered cloud design scales on demand for growing data volumes.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83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Intelligent Insights: </a:t>
            </a:r>
            <a:r>
              <a:rPr lang="en-US" sz="1600" dirty="0">
                <a:solidFill>
                  <a:schemeClr val="tx1"/>
                </a:solidFill>
              </a:rPr>
              <a:t>Machine learning turns raw data into predictions and decisions.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14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Real-World Applications: </a:t>
            </a:r>
            <a:r>
              <a:rPr lang="en-US" sz="1600" dirty="0">
                <a:solidFill>
                  <a:schemeClr val="tx1"/>
                </a:solidFill>
              </a:rPr>
              <a:t>Healthcare, finance, retail and smart cities gain measurable value.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461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Cost and Speed Advantage: </a:t>
            </a:r>
            <a:r>
              <a:rPr lang="en-US" sz="1600" dirty="0">
                <a:solidFill>
                  <a:schemeClr val="tx1"/>
                </a:solidFill>
              </a:rPr>
              <a:t>Pay-as-you-go resources cut cost and speed up analysis.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Ready: </a:t>
            </a:r>
            <a:r>
              <a:rPr lang="en-US" sz="1600" dirty="0">
                <a:solidFill>
                  <a:schemeClr val="tx1"/>
                </a:solidFill>
              </a:rPr>
              <a:t>Edge, serverless and real-time AI will drive the next stage.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BigData">
  <a:themeElements>
    <a:clrScheme name="CloudBigData">
      <a:dk1>
        <a:srgbClr val="1B1B2F"/>
      </a:dk1>
      <a:lt1>
        <a:srgbClr val="FFFFFF"/>
      </a:lt1>
      <a:dk2>
        <a:srgbClr val="0B2545"/>
      </a:dk2>
      <a:lt2>
        <a:srgbClr val="EEF4FA"/>
      </a:lt2>
      <a:accent1>
        <a:srgbClr val="1F6FEB"/>
      </a:accent1>
      <a:accent2>
        <a:srgbClr val="00B4D8"/>
      </a:accent2>
      <a:accent3>
        <a:srgbClr val="F4A261"/>
      </a:accent3>
      <a:accent4>
        <a:srgbClr val="2A9D8F"/>
      </a:accent4>
      <a:accent5>
        <a:srgbClr val="8D99AE"/>
      </a:accent5>
      <a:accent6>
        <a:srgbClr val="E76F51"/>
      </a:accent6>
      <a:hlink>
        <a:srgbClr val="1F6FEB"/>
      </a:hlink>
      <a:folHlink>
        <a:srgbClr val="8D99AE"/>
      </a:folHlink>
    </a:clrScheme>
    <a:fontScheme name="CloudBigDat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456</Words>
  <Application>Microsoft Office PowerPoint</Application>
  <PresentationFormat>On-screen Show (16:9)</PresentationFormat>
  <Paragraphs>90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CloudBigData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Cloud-Driven Big Data Analytics</dc:title>
  <dc:subject>PptxGenJS Presentation</dc:subject>
  <dc:creator>PptxGenJS</dc:creator>
  <cp:lastModifiedBy>Reshma Reddy</cp:lastModifiedBy>
  <cp:revision>4</cp:revision>
  <dcterms:created xsi:type="dcterms:W3CDTF">2026-10-08T14:13:43Z</dcterms:created>
  <dcterms:modified xsi:type="dcterms:W3CDTF">2026-10-09T08:34:11Z</dcterms:modified>
</cp:coreProperties>
</file>